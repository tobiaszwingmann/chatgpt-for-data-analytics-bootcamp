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457200"/>
            <a:ext cx="3474720" cy="3108960"/>
          </a:xfrm>
          <a:prstGeom prst="arc">
            <a:avLst/>
          </a:prstGeom>
          <a:solidFill>
            <a:srgbClr val="17324D">
              <a:alpha val="0"/>
            </a:srgbClr>
          </a:solidFill>
          <a:ln w="38100">
            <a:solidFill>
              <a:srgbClr val="2F6F9F">
                <a:alpha val="8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2926080"/>
            <a:ext cx="3108960" cy="2834640"/>
          </a:xfrm>
          <a:prstGeom prst="arc">
            <a:avLst/>
          </a:prstGeom>
          <a:solidFill>
            <a:srgbClr val="17324D">
              <a:alpha val="0"/>
            </a:srgbClr>
          </a:solidFill>
          <a:ln w="38100">
            <a:solidFill>
              <a:srgbClr val="D8A035">
                <a:alpha val="9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051560"/>
            <a:ext cx="1143000" cy="0"/>
          </a:xfrm>
          <a:prstGeom prst="line">
            <a:avLst/>
          </a:prstGeom>
          <a:noFill/>
          <a:ln w="38100">
            <a:solidFill>
              <a:srgbClr val="D8A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7406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Turning Raw Customer Data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into Profitable Segments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13232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E8F2"/>
                </a:solidFill>
              </a:rPr>
              <a:t>A 3-month sprint to establish B2B, B2C, and hybrid segments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A035"/>
                </a:solidFill>
              </a:rPr>
              <a:t>For VP Marketing/Sales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44074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8F2"/>
                </a:solidFill>
              </a:rPr>
              <a:t>Prepared by Data Analyst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13232" y="6172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2E2"/>
                </a:solidFill>
              </a:rPr>
              <a:t>Elegant Homes UK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answer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low-cost segmentation sprint can turn existing customer data into commercial action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1208" y="1161288"/>
            <a:ext cx="1005840" cy="0"/>
          </a:xfrm>
          <a:prstGeom prst="line">
            <a:avLst/>
          </a:prstGeom>
          <a:noFill/>
          <a:ln w="25400">
            <a:solidFill>
              <a:srgbClr val="D8A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2011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8A035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61264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</a:rPr>
              <a:t>Launch a 3-month segmentation sprint using transaction data and a simple RFM model to classify customers into B2B, B2C, and hybrid groups.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589520" y="1481328"/>
            <a:ext cx="2743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F6F9F"/>
                </a:solidFill>
              </a:rPr>
              <a:t>Decision needed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1874520"/>
            <a:ext cx="320040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450" dirty="0">
                <a:solidFill>
                  <a:srgbClr val="243040"/>
                </a:solidFill>
              </a:rPr>
              <a:t>Approve the 3-month sprint</a:t>
            </a:r>
            <a:endParaRPr lang="en-US" sz="1450" dirty="0"/>
          </a:p>
          <a:p>
            <a:r>
              <a:rPr lang="en-US" sz="1450" dirty="0">
                <a:solidFill>
                  <a:srgbClr val="243040"/>
                </a:solidFill>
              </a:rPr>
              <a:t>Assign one analytics owner</a:t>
            </a:r>
            <a:endParaRPr lang="en-US" sz="1450" dirty="0"/>
          </a:p>
          <a:p>
            <a:r>
              <a:rPr lang="en-US" sz="1450" dirty="0">
                <a:solidFill>
                  <a:srgbClr val="243040"/>
                </a:solidFill>
              </a:rPr>
              <a:t>Use Excel or Power BI first</a:t>
            </a:r>
            <a:endParaRPr lang="en-US" sz="1450" dirty="0"/>
          </a:p>
          <a:p>
            <a:r>
              <a:rPr lang="en-US" sz="1450" dirty="0">
                <a:solidFill>
                  <a:srgbClr val="243040"/>
                </a:solidFill>
              </a:rPr>
              <a:t>Pilot segment-specific actions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9875520" cy="0"/>
          </a:xfrm>
          <a:prstGeom prst="line">
            <a:avLst/>
          </a:prstGeom>
          <a:noFill/>
          <a:ln w="1778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4599432"/>
            <a:ext cx="109728" cy="109728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4462272"/>
            <a:ext cx="1691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F6F9F"/>
                </a:solidFill>
              </a:rPr>
              <a:t>Targeting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611880" y="4599432"/>
            <a:ext cx="109728" cy="109728"/>
          </a:xfrm>
          <a:prstGeom prst="ellipse">
            <a:avLst/>
          </a:prstGeom>
          <a:solidFill>
            <a:srgbClr val="D8A035"/>
          </a:solidFill>
          <a:ln w="12700">
            <a:solidFill>
              <a:srgbClr val="D8A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4462272"/>
            <a:ext cx="1691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8A035"/>
                </a:solidFill>
              </a:rPr>
              <a:t>Pricing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63640" y="4599432"/>
            <a:ext cx="109728" cy="109728"/>
          </a:xfrm>
          <a:prstGeom prst="ellipse">
            <a:avLst/>
          </a:prstGeom>
          <a:solidFill>
            <a:srgbClr val="4C8F63"/>
          </a:solidFill>
          <a:ln w="12700">
            <a:solidFill>
              <a:srgbClr val="4C8F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4462272"/>
            <a:ext cx="1691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C8F63"/>
                </a:solidFill>
              </a:rPr>
              <a:t>Sales focus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15400" y="4599432"/>
            <a:ext cx="109728" cy="109728"/>
          </a:xfrm>
          <a:prstGeom prst="ellipse">
            <a:avLst/>
          </a:prstGeom>
          <a:solidFill>
            <a:srgbClr val="4DA8A8"/>
          </a:solidFill>
          <a:ln w="12700">
            <a:solidFill>
              <a:srgbClr val="4DA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0" y="4462272"/>
            <a:ext cx="16916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4DA8A8"/>
                </a:solidFill>
              </a:rPr>
              <a:t>Retention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Elegant Homes UK | Customer Segmentation Sprint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commercial problem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Customer records exist, but they are not shaping marketing and sales decisions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1208" y="1161288"/>
            <a:ext cx="1005840" cy="0"/>
          </a:xfrm>
          <a:prstGeom prst="line">
            <a:avLst/>
          </a:prstGeom>
          <a:noFill/>
          <a:ln w="25400">
            <a:solidFill>
              <a:srgbClr val="D8A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2514600" cy="0"/>
          </a:xfrm>
          <a:prstGeom prst="line">
            <a:avLst/>
          </a:prstGeom>
          <a:noFill/>
          <a:ln w="63500">
            <a:solidFill>
              <a:srgbClr val="2F6F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4D"/>
                </a:solidFill>
              </a:rPr>
              <a:t>Raw transaction records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Data exists but remains unanalysed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2578608"/>
            <a:ext cx="594360" cy="292608"/>
          </a:xfrm>
          <a:prstGeom prst="rightArrow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965960"/>
            <a:ext cx="2514600" cy="0"/>
          </a:xfrm>
          <a:prstGeom prst="line">
            <a:avLst/>
          </a:prstGeom>
          <a:noFill/>
          <a:ln w="63500">
            <a:solidFill>
              <a:srgbClr val="D8A0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4D"/>
                </a:solidFill>
              </a:rPr>
              <a:t>No clear customer segments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66344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Marketing, pricing and sales stay generic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0" y="2578608"/>
            <a:ext cx="594360" cy="292608"/>
          </a:xfrm>
          <a:prstGeom prst="rightArrow">
            <a:avLst/>
          </a:prstGeom>
          <a:solidFill>
            <a:srgbClr val="D9E2E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0" y="1965960"/>
            <a:ext cx="2514600" cy="0"/>
          </a:xfrm>
          <a:prstGeom prst="line">
            <a:avLst/>
          </a:prstGeom>
          <a:noFill/>
          <a:ln w="63500">
            <a:solidFill>
              <a:srgbClr val="B85C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4D"/>
                </a:solidFill>
              </a:rPr>
              <a:t>Lost commercial focus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412480" y="2788920"/>
            <a:ext cx="2468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Time, discounts and offers are not prioritized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754880"/>
            <a:ext cx="94183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43040"/>
                </a:solidFill>
              </a:rPr>
              <a:t>The business is treating customers too similarly because behavioral patterns have not been translated into action.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Elegant Homes UK | Customer Segmentation Sprint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1430000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Root cause from 5-Why analysis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barrier is capability and mindset — not data availability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1208" y="1161288"/>
            <a:ext cx="1005840" cy="0"/>
          </a:xfrm>
          <a:prstGeom prst="line">
            <a:avLst/>
          </a:prstGeom>
          <a:noFill/>
          <a:ln w="25400">
            <a:solidFill>
              <a:srgbClr val="D8A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90472"/>
            <a:ext cx="128016" cy="128016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417320"/>
            <a:ext cx="5303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43040"/>
                </a:solidFill>
              </a:rPr>
              <a:t>1. Records exist but remain raw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841248" y="1645920"/>
            <a:ext cx="0" cy="384048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185416"/>
            <a:ext cx="128016" cy="128016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112264"/>
            <a:ext cx="5303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43040"/>
                </a:solidFill>
              </a:rPr>
              <a:t>2. No analytics tool or owner is in place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41248" y="2340864"/>
            <a:ext cx="0" cy="384048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880360"/>
            <a:ext cx="128016" cy="128016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807208"/>
            <a:ext cx="5303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43040"/>
                </a:solidFill>
              </a:rPr>
              <a:t>3. Segmentation is seen as complex or expensive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841248" y="3035808"/>
            <a:ext cx="0" cy="384048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575304"/>
            <a:ext cx="128016" cy="128016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502152"/>
            <a:ext cx="5303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43040"/>
                </a:solidFill>
              </a:rPr>
              <a:t>4. Simple low-cost methods are not yet known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841248" y="3730752"/>
            <a:ext cx="0" cy="384048"/>
          </a:xfrm>
          <a:prstGeom prst="line">
            <a:avLst/>
          </a:prstGeom>
          <a:noFill/>
          <a:ln w="1651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270248"/>
            <a:ext cx="128016" cy="128016"/>
          </a:xfrm>
          <a:prstGeom prst="ellipse">
            <a:avLst/>
          </a:prstGeom>
          <a:solidFill>
            <a:srgbClr val="D8A035"/>
          </a:solidFill>
          <a:ln w="12700">
            <a:solidFill>
              <a:srgbClr val="D8A0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4197096"/>
            <a:ext cx="5303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7324D"/>
                </a:solidFill>
              </a:rPr>
              <a:t>5. Limited exposure to practical segmentation methods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903720" y="1645920"/>
            <a:ext cx="2194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F6F9F"/>
                </a:solidFill>
              </a:rPr>
              <a:t>Key insight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03720" y="2057400"/>
            <a:ext cx="402336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</a:rPr>
              <a:t>Elegant Homes does not need a costly analytics transformation. It needs a simple, repeatable segmentation process.</a:t>
            </a:r>
            <a:endParaRPr lang="en-US" sz="2500" dirty="0"/>
          </a:p>
        </p:txBody>
      </p:sp>
      <p:sp>
        <p:nvSpPr>
          <p:cNvPr id="21" name="Shape 19"/>
          <p:cNvSpPr/>
          <p:nvPr/>
        </p:nvSpPr>
        <p:spPr>
          <a:xfrm>
            <a:off x="6903720" y="3794760"/>
            <a:ext cx="4023360" cy="0"/>
          </a:xfrm>
          <a:prstGeom prst="line">
            <a:avLst/>
          </a:prstGeom>
          <a:noFill/>
          <a:ln w="25400">
            <a:solidFill>
              <a:srgbClr val="D8A0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4160520"/>
            <a:ext cx="38404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</a:rPr>
              <a:t>This reframes the task from “build analytics” to “create a practical commercial operating rhythm.”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Elegant Homes UK | Customer Segmentation Sprint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1430000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solution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Run a focused segmentation sprint rather than a full analytics build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1208" y="1161288"/>
            <a:ext cx="1005840" cy="0"/>
          </a:xfrm>
          <a:prstGeom prst="line">
            <a:avLst/>
          </a:prstGeom>
          <a:noFill/>
          <a:ln w="25400">
            <a:solidFill>
              <a:srgbClr val="D8A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28800"/>
            <a:ext cx="2514600" cy="0"/>
          </a:xfrm>
          <a:prstGeom prst="line">
            <a:avLst/>
          </a:prstGeom>
          <a:noFill/>
          <a:ln w="63500">
            <a:solidFill>
              <a:srgbClr val="2F6F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148840"/>
            <a:ext cx="2560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F9F"/>
                </a:solidFill>
              </a:rPr>
              <a:t>Month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05456"/>
            <a:ext cx="25603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Prepare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3090672"/>
            <a:ext cx="22402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50" dirty="0">
                <a:solidFill>
                  <a:srgbClr val="243040"/>
                </a:solidFill>
              </a:rPr>
              <a:t>Clean transaction data</a:t>
            </a:r>
            <a:endParaRPr lang="en-US" sz="1350" dirty="0"/>
          </a:p>
          <a:p>
            <a:r>
              <a:rPr lang="en-US" sz="1350" dirty="0">
                <a:solidFill>
                  <a:srgbClr val="243040"/>
                </a:solidFill>
              </a:rPr>
              <a:t>Confirm customer IDs</a:t>
            </a:r>
            <a:endParaRPr lang="en-US" sz="1350" dirty="0"/>
          </a:p>
          <a:p>
            <a:r>
              <a:rPr lang="en-US" sz="1350" dirty="0">
                <a:solidFill>
                  <a:srgbClr val="243040"/>
                </a:solidFill>
              </a:rPr>
              <a:t>Define RFM fields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617720" y="1828800"/>
            <a:ext cx="2514600" cy="0"/>
          </a:xfrm>
          <a:prstGeom prst="line">
            <a:avLst/>
          </a:prstGeom>
          <a:noFill/>
          <a:ln w="63500">
            <a:solidFill>
              <a:srgbClr val="4DA8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2148840"/>
            <a:ext cx="2560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A8A8"/>
                </a:solidFill>
              </a:rPr>
              <a:t>Month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505456"/>
            <a:ext cx="25603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Build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46320" y="3090672"/>
            <a:ext cx="22402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50" dirty="0">
                <a:solidFill>
                  <a:srgbClr val="243040"/>
                </a:solidFill>
              </a:rPr>
              <a:t>Score RFM behavior</a:t>
            </a:r>
            <a:endParaRPr lang="en-US" sz="1350" dirty="0"/>
          </a:p>
          <a:p>
            <a:r>
              <a:rPr lang="en-US" sz="1350" dirty="0">
                <a:solidFill>
                  <a:srgbClr val="243040"/>
                </a:solidFill>
              </a:rPr>
              <a:t>Classify B2B/B2C/hybrid</a:t>
            </a:r>
            <a:endParaRPr lang="en-US" sz="1350" dirty="0"/>
          </a:p>
          <a:p>
            <a:r>
              <a:rPr lang="en-US" sz="1350" dirty="0">
                <a:solidFill>
                  <a:srgbClr val="243040"/>
                </a:solidFill>
              </a:rPr>
              <a:t>Create first dashboard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366760" y="1828800"/>
            <a:ext cx="2514600" cy="0"/>
          </a:xfrm>
          <a:prstGeom prst="line">
            <a:avLst/>
          </a:prstGeom>
          <a:noFill/>
          <a:ln w="63500">
            <a:solidFill>
              <a:srgbClr val="D8A0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2148840"/>
            <a:ext cx="25603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A035"/>
                </a:solidFill>
              </a:rPr>
              <a:t>Month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2505456"/>
            <a:ext cx="25603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Embed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595360" y="3090672"/>
            <a:ext cx="22402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50" dirty="0">
                <a:solidFill>
                  <a:srgbClr val="243040"/>
                </a:solidFill>
              </a:rPr>
              <a:t>Pilot targeted actions</a:t>
            </a:r>
            <a:endParaRPr lang="en-US" sz="1350" dirty="0"/>
          </a:p>
          <a:p>
            <a:r>
              <a:rPr lang="en-US" sz="1350" dirty="0">
                <a:solidFill>
                  <a:srgbClr val="243040"/>
                </a:solidFill>
              </a:rPr>
              <a:t>Set refresh cadence</a:t>
            </a:r>
            <a:endParaRPr lang="en-US" sz="1350" dirty="0"/>
          </a:p>
          <a:p>
            <a:r>
              <a:rPr lang="en-US" sz="1350" dirty="0">
                <a:solidFill>
                  <a:srgbClr val="243040"/>
                </a:solidFill>
              </a:rPr>
              <a:t>Track KPI movement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17320" y="5257800"/>
            <a:ext cx="93726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7324D"/>
                </a:solidFill>
              </a:rPr>
              <a:t>Three months is enough to move from raw records to a live commercial segmentation model.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Elegant Homes UK | Customer Segmentation Sprint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Segmentation method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Use RFM to convert transaction behavior into practical customer groups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1208" y="1161288"/>
            <a:ext cx="1005840" cy="0"/>
          </a:xfrm>
          <a:prstGeom prst="line">
            <a:avLst/>
          </a:prstGeom>
          <a:noFill/>
          <a:ln w="25400">
            <a:solidFill>
              <a:srgbClr val="D8A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6F9F"/>
                </a:solidFill>
              </a:rPr>
              <a:t>R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1280160" y="2240280"/>
            <a:ext cx="640080" cy="0"/>
          </a:xfrm>
          <a:prstGeom prst="line">
            <a:avLst/>
          </a:prstGeom>
          <a:noFill/>
          <a:ln w="50800">
            <a:solidFill>
              <a:srgbClr val="2F6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70048"/>
            <a:ext cx="1554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Recency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How recently did the customer buy?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DA8A8"/>
                </a:solidFill>
              </a:rPr>
              <a:t>F</a:t>
            </a:r>
            <a:endParaRPr lang="en-US" sz="4600" dirty="0"/>
          </a:p>
        </p:txBody>
      </p:sp>
      <p:sp>
        <p:nvSpPr>
          <p:cNvPr id="10" name="Shape 8"/>
          <p:cNvSpPr/>
          <p:nvPr/>
        </p:nvSpPr>
        <p:spPr>
          <a:xfrm>
            <a:off x="4800600" y="2240280"/>
            <a:ext cx="640080" cy="0"/>
          </a:xfrm>
          <a:prstGeom prst="line">
            <a:avLst/>
          </a:prstGeom>
          <a:noFill/>
          <a:ln w="50800">
            <a:solidFill>
              <a:srgbClr val="4DA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2670048"/>
            <a:ext cx="1554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Frequency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97764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How often do they buy?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75320" y="1600200"/>
            <a:ext cx="73152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8A035"/>
                </a:solidFill>
              </a:rPr>
              <a:t>M</a:t>
            </a:r>
            <a:endParaRPr lang="en-US" sz="4600" dirty="0"/>
          </a:p>
        </p:txBody>
      </p:sp>
      <p:sp>
        <p:nvSpPr>
          <p:cNvPr id="14" name="Shape 12"/>
          <p:cNvSpPr/>
          <p:nvPr/>
        </p:nvSpPr>
        <p:spPr>
          <a:xfrm>
            <a:off x="8321040" y="2240280"/>
            <a:ext cx="640080" cy="0"/>
          </a:xfrm>
          <a:prstGeom prst="line">
            <a:avLst/>
          </a:prstGeom>
          <a:noFill/>
          <a:ln w="50800">
            <a:solidFill>
              <a:srgbClr val="D8A0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670048"/>
            <a:ext cx="15544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Monetary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98080" y="3154680"/>
            <a:ext cx="22860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67085"/>
                </a:solidFill>
              </a:rPr>
              <a:t>How much do they spend?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532120" y="4343400"/>
            <a:ext cx="594360" cy="457200"/>
          </a:xfrm>
          <a:prstGeom prst="downArrow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5166360"/>
            <a:ext cx="37490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7324D"/>
                </a:solidFill>
              </a:rPr>
              <a:t>B2B  |  B2C  |  Hybrid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Elegant Homes UK | Customer Segmentation Sprint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customer segments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The model must produce groups that the VP can act 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1208" y="1161288"/>
            <a:ext cx="1005840" cy="0"/>
          </a:xfrm>
          <a:prstGeom prst="line">
            <a:avLst/>
          </a:prstGeom>
          <a:noFill/>
          <a:ln w="25400">
            <a:solidFill>
              <a:srgbClr val="D8A0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2560320" cy="0"/>
          </a:xfrm>
          <a:prstGeom prst="line">
            <a:avLst/>
          </a:prstGeom>
          <a:noFill/>
          <a:ln w="63500">
            <a:solidFill>
              <a:srgbClr val="2F6F9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2606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9F"/>
                </a:solidFill>
              </a:rPr>
              <a:t>B2B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514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43040"/>
                </a:solidFill>
              </a:rPr>
              <a:t>Repeat buyers with higher order values or trade-like purchasing patterns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24712" y="3730752"/>
            <a:ext cx="22402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50" dirty="0">
                <a:solidFill>
                  <a:srgbClr val="243040"/>
                </a:solidFill>
              </a:rPr>
              <a:t>Account management</a:t>
            </a:r>
            <a:endParaRPr lang="en-US" sz="1350" dirty="0"/>
          </a:p>
          <a:p>
            <a:r>
              <a:rPr lang="en-US" sz="1350" dirty="0">
                <a:solidFill>
                  <a:srgbClr val="243040"/>
                </a:solidFill>
              </a:rPr>
              <a:t>Volume pricing</a:t>
            </a:r>
            <a:endParaRPr lang="en-US" sz="1350" dirty="0"/>
          </a:p>
          <a:p>
            <a:r>
              <a:rPr lang="en-US" sz="1350" dirty="0">
                <a:solidFill>
                  <a:srgbClr val="243040"/>
                </a:solidFill>
              </a:rPr>
              <a:t>Repeat-order campaigns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26280" y="1645920"/>
            <a:ext cx="2560320" cy="0"/>
          </a:xfrm>
          <a:prstGeom prst="line">
            <a:avLst/>
          </a:prstGeom>
          <a:noFill/>
          <a:ln w="63500">
            <a:solidFill>
              <a:srgbClr val="D8A0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2057400"/>
            <a:ext cx="2606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8A035"/>
                </a:solidFill>
              </a:rPr>
              <a:t>B2C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72000" y="2606040"/>
            <a:ext cx="2514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43040"/>
                </a:solidFill>
              </a:rPr>
              <a:t>Lower-frequency household buyers with more promotional or seasonal behavior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28032" y="3730752"/>
            <a:ext cx="22402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50" dirty="0">
                <a:solidFill>
                  <a:srgbClr val="243040"/>
                </a:solidFill>
              </a:rPr>
              <a:t>Seasonal offers</a:t>
            </a:r>
            <a:endParaRPr lang="en-US" sz="1350" dirty="0"/>
          </a:p>
          <a:p>
            <a:r>
              <a:rPr lang="en-US" sz="1350" dirty="0">
                <a:solidFill>
                  <a:srgbClr val="243040"/>
                </a:solidFill>
              </a:rPr>
              <a:t>Retention nudges</a:t>
            </a:r>
            <a:endParaRPr lang="en-US" sz="1350" dirty="0"/>
          </a:p>
          <a:p>
            <a:r>
              <a:rPr lang="en-US" sz="1350" dirty="0">
                <a:solidFill>
                  <a:srgbClr val="243040"/>
                </a:solidFill>
              </a:rPr>
              <a:t>Standard margin protection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2560320" cy="0"/>
          </a:xfrm>
          <a:prstGeom prst="line">
            <a:avLst/>
          </a:prstGeom>
          <a:noFill/>
          <a:ln w="63500">
            <a:solidFill>
              <a:srgbClr val="4DA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2057400"/>
            <a:ext cx="26060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DA8A8"/>
                </a:solidFill>
              </a:rPr>
              <a:t>Hybrid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275320" y="2606040"/>
            <a:ext cx="251460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243040"/>
                </a:solidFill>
              </a:rPr>
              <a:t>Customers showing both household and trade-like patterns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531352" y="3730752"/>
            <a:ext cx="224028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350" dirty="0">
                <a:solidFill>
                  <a:srgbClr val="243040"/>
                </a:solidFill>
              </a:rPr>
              <a:t>Upsell campaigns</a:t>
            </a:r>
            <a:endParaRPr lang="en-US" sz="1350" dirty="0"/>
          </a:p>
          <a:p>
            <a:r>
              <a:rPr lang="en-US" sz="1350" dirty="0">
                <a:solidFill>
                  <a:srgbClr val="243040"/>
                </a:solidFill>
              </a:rPr>
              <a:t>Loyalty treatment</a:t>
            </a:r>
            <a:endParaRPr lang="en-US" sz="1350" dirty="0"/>
          </a:p>
          <a:p>
            <a:r>
              <a:rPr lang="en-US" sz="1350" dirty="0">
                <a:solidFill>
                  <a:srgbClr val="243040"/>
                </a:solidFill>
              </a:rPr>
              <a:t>Trade conversion monitoring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417320" y="5349240"/>
            <a:ext cx="9326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Segment names are only useful when they trigger different commercial moves.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Elegant Homes UK | Customer Segmentation Sprint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Commercial playbook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Segmentation must change how Marketing and Sales allocate effort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1208" y="1161288"/>
            <a:ext cx="1005840" cy="0"/>
          </a:xfrm>
          <a:prstGeom prst="line">
            <a:avLst/>
          </a:prstGeom>
          <a:noFill/>
          <a:ln w="25400">
            <a:solidFill>
              <a:srgbClr val="D8A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63040"/>
            <a:ext cx="1600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Segment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971800" y="1463040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Marketing 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23560" y="1463040"/>
            <a:ext cx="2057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Pricing action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75320" y="1463040"/>
            <a:ext cx="2514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Account action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1828800"/>
            <a:ext cx="10652760" cy="0"/>
          </a:xfrm>
          <a:prstGeom prst="line">
            <a:avLst/>
          </a:prstGeom>
          <a:noFill/>
          <a:ln w="254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48840"/>
            <a:ext cx="1600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6F9F"/>
                </a:solidFill>
              </a:rPr>
              <a:t>B2B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2148840"/>
            <a:ext cx="2103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040"/>
                </a:solidFill>
              </a:rPr>
              <a:t>Repeat-order campaigns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23560" y="2148840"/>
            <a:ext cx="2057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040"/>
                </a:solidFill>
              </a:rPr>
              <a:t>Volume-based pricing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75320" y="2148840"/>
            <a:ext cx="2514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040"/>
                </a:solidFill>
              </a:rPr>
              <a:t>Named account focus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" y="2743200"/>
            <a:ext cx="106527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54680"/>
            <a:ext cx="1600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A035"/>
                </a:solidFill>
              </a:rPr>
              <a:t>B2C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7180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040"/>
                </a:solidFill>
              </a:rPr>
              <a:t>Seasonal offers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23560" y="3154680"/>
            <a:ext cx="2057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040"/>
                </a:solidFill>
              </a:rPr>
              <a:t>Standard margin protection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3154680"/>
            <a:ext cx="2514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040"/>
                </a:solidFill>
              </a:rPr>
              <a:t>Automated retention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" y="3749040"/>
            <a:ext cx="106527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DA8A8"/>
                </a:solidFill>
              </a:rPr>
              <a:t>Hybrid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971800" y="4160520"/>
            <a:ext cx="21031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040"/>
                </a:solidFill>
              </a:rPr>
              <a:t>Upsell + loyalty campaigns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23560" y="4160520"/>
            <a:ext cx="2057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040"/>
                </a:solidFill>
              </a:rPr>
              <a:t>Controlled incentives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75320" y="4160520"/>
            <a:ext cx="25146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040"/>
                </a:solidFill>
              </a:rPr>
              <a:t>Monitor for trade conversion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" y="4754880"/>
            <a:ext cx="1065276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0200" y="5394960"/>
            <a:ext cx="89611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The goal is better choices on campaigns, discounts and sales attention.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Elegant Homes UK | Customer Segmentation Sprint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Margin-safe governance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Keep the model lightweight, owned, and commercially controlled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1208" y="1161288"/>
            <a:ext cx="1005840" cy="0"/>
          </a:xfrm>
          <a:prstGeom prst="line">
            <a:avLst/>
          </a:prstGeom>
          <a:noFill/>
          <a:ln w="25400">
            <a:solidFill>
              <a:srgbClr val="D8A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81328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F6F9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353312" y="2148840"/>
            <a:ext cx="713232" cy="0"/>
          </a:xfrm>
          <a:prstGeom prst="line">
            <a:avLst/>
          </a:prstGeom>
          <a:noFill/>
          <a:ln w="50800">
            <a:solidFill>
              <a:srgbClr val="2F6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06040"/>
            <a:ext cx="2148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One owner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063240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667085"/>
                </a:solidFill>
              </a:rPr>
              <a:t>Single internal analytics owner maintains the model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4315968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DA8A8"/>
                </a:solidFill>
              </a:rPr>
              <a:t>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187952" y="2148840"/>
            <a:ext cx="713232" cy="0"/>
          </a:xfrm>
          <a:prstGeom prst="line">
            <a:avLst/>
          </a:prstGeom>
          <a:noFill/>
          <a:ln w="50800">
            <a:solidFill>
              <a:srgbClr val="4DA8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2606040"/>
            <a:ext cx="2148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Monthly refresh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703320" y="3063240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667085"/>
                </a:solidFill>
              </a:rPr>
              <a:t>Dashboard refresh follows a fixed cadence</a:t>
            </a:r>
            <a:endParaRPr lang="en-US" sz="1280" dirty="0"/>
          </a:p>
        </p:txBody>
      </p:sp>
      <p:sp>
        <p:nvSpPr>
          <p:cNvPr id="13" name="Text 11"/>
          <p:cNvSpPr/>
          <p:nvPr/>
        </p:nvSpPr>
        <p:spPr>
          <a:xfrm>
            <a:off x="7150608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8A035"/>
                </a:solidFill>
              </a:rPr>
              <a:t>3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7022592" y="2148840"/>
            <a:ext cx="713232" cy="0"/>
          </a:xfrm>
          <a:prstGeom prst="line">
            <a:avLst/>
          </a:prstGeom>
          <a:noFill/>
          <a:ln w="50800">
            <a:solidFill>
              <a:srgbClr val="D8A0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606040"/>
            <a:ext cx="2148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Pricing guardrails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537960" y="3063240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667085"/>
                </a:solidFill>
              </a:rPr>
              <a:t>Discount rules protect margin by segment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9985248" y="1600200"/>
            <a:ext cx="457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8F63"/>
                </a:solidFill>
              </a:rPr>
              <a:t>4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9857232" y="2148840"/>
            <a:ext cx="713232" cy="0"/>
          </a:xfrm>
          <a:prstGeom prst="line">
            <a:avLst/>
          </a:prstGeom>
          <a:noFill/>
          <a:ln w="50800">
            <a:solidFill>
              <a:srgbClr val="4C8F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0" y="2606040"/>
            <a:ext cx="21488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</a:rPr>
              <a:t>KPI review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372600" y="3063240"/>
            <a:ext cx="20574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667085"/>
                </a:solidFill>
              </a:rPr>
              <a:t>VP reviews performance and adjusts actions</a:t>
            </a:r>
            <a:endParaRPr lang="en-US" sz="1280" dirty="0"/>
          </a:p>
        </p:txBody>
      </p:sp>
      <p:sp>
        <p:nvSpPr>
          <p:cNvPr id="21" name="Text 19"/>
          <p:cNvSpPr/>
          <p:nvPr/>
        </p:nvSpPr>
        <p:spPr>
          <a:xfrm>
            <a:off x="1143000" y="5166360"/>
            <a:ext cx="98755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324D"/>
                </a:solidFill>
              </a:rPr>
              <a:t>Governance matters because segmentation should sharpen commercial action — not create admin work.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Elegant Homes UK | Customer Segmentation Sprint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KPIs to prove value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Track whether segmentation improves behavior, value, and margin discipline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1208" y="1161288"/>
            <a:ext cx="1005840" cy="0"/>
          </a:xfrm>
          <a:prstGeom prst="line">
            <a:avLst/>
          </a:prstGeom>
          <a:noFill/>
          <a:ln w="25400">
            <a:solidFill>
              <a:srgbClr val="D8A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0020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6F9F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417320" y="2221992"/>
            <a:ext cx="868680" cy="0"/>
          </a:xfrm>
          <a:prstGeom prst="line">
            <a:avLst/>
          </a:prstGeom>
          <a:noFill/>
          <a:ln w="50800">
            <a:solidFill>
              <a:srgbClr val="2F6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Repeat customer rate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21031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67085"/>
                </a:solidFill>
              </a:rPr>
              <a:t>Target stronger retention</a:t>
            </a:r>
            <a:endParaRPr lang="en-US" sz="1260" dirty="0"/>
          </a:p>
          <a:p>
            <a:pPr algn="ctr" indent="0" marL="0">
              <a:buNone/>
            </a:pPr>
            <a:r>
              <a:rPr lang="en-US" sz="1260" dirty="0">
                <a:solidFill>
                  <a:srgbClr val="667085"/>
                </a:solidFill>
              </a:rPr>
              <a:t>B2C: 60–70%; B2B: 80%+</a:t>
            </a:r>
            <a:endParaRPr lang="en-US" sz="1260" dirty="0"/>
          </a:p>
        </p:txBody>
      </p:sp>
      <p:sp>
        <p:nvSpPr>
          <p:cNvPr id="9" name="Text 7"/>
          <p:cNvSpPr/>
          <p:nvPr/>
        </p:nvSpPr>
        <p:spPr>
          <a:xfrm>
            <a:off x="438912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8A035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206240" y="2221992"/>
            <a:ext cx="868680" cy="0"/>
          </a:xfrm>
          <a:prstGeom prst="line">
            <a:avLst/>
          </a:prstGeom>
          <a:noFill/>
          <a:ln w="50800">
            <a:solidFill>
              <a:srgbClr val="D8A0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Average order value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3154680"/>
            <a:ext cx="21031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67085"/>
                </a:solidFill>
              </a:rPr>
              <a:t>Target +10–20% through tailored offers</a:t>
            </a:r>
            <a:endParaRPr lang="en-US" sz="1260" dirty="0"/>
          </a:p>
        </p:txBody>
      </p:sp>
      <p:sp>
        <p:nvSpPr>
          <p:cNvPr id="13" name="Text 11"/>
          <p:cNvSpPr/>
          <p:nvPr/>
        </p:nvSpPr>
        <p:spPr>
          <a:xfrm>
            <a:off x="717804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A8A8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6995160" y="2221992"/>
            <a:ext cx="868680" cy="0"/>
          </a:xfrm>
          <a:prstGeom prst="line">
            <a:avLst/>
          </a:prstGeom>
          <a:noFill/>
          <a:ln w="50800">
            <a:solidFill>
              <a:srgbClr val="4DA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CLV/CAC ratio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46520" y="3154680"/>
            <a:ext cx="21031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67085"/>
                </a:solidFill>
              </a:rPr>
              <a:t>Target &gt;3 to protect acquisition economics</a:t>
            </a:r>
            <a:endParaRPr lang="en-US" sz="1260" dirty="0"/>
          </a:p>
        </p:txBody>
      </p:sp>
      <p:sp>
        <p:nvSpPr>
          <p:cNvPr id="17" name="Text 15"/>
          <p:cNvSpPr/>
          <p:nvPr/>
        </p:nvSpPr>
        <p:spPr>
          <a:xfrm>
            <a:off x="996696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C8F63"/>
                </a:solidFill>
              </a:rPr>
              <a:t>4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9784080" y="2221992"/>
            <a:ext cx="868680" cy="0"/>
          </a:xfrm>
          <a:prstGeom prst="line">
            <a:avLst/>
          </a:prstGeom>
          <a:noFill/>
          <a:ln w="50800">
            <a:solidFill>
              <a:srgbClr val="4C8F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Margin by segment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35440" y="3154680"/>
            <a:ext cx="21031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60" dirty="0">
                <a:solidFill>
                  <a:srgbClr val="667085"/>
                </a:solidFill>
              </a:rPr>
              <a:t>Confirm pricing actions do not erode margin</a:t>
            </a:r>
            <a:endParaRPr lang="en-US" sz="1260" dirty="0"/>
          </a:p>
        </p:txBody>
      </p:sp>
      <p:sp>
        <p:nvSpPr>
          <p:cNvPr id="21" name="Text 19"/>
          <p:cNvSpPr/>
          <p:nvPr/>
        </p:nvSpPr>
        <p:spPr>
          <a:xfrm>
            <a:off x="1371600" y="5349240"/>
            <a:ext cx="9418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324D"/>
                </a:solidFill>
              </a:rPr>
              <a:t>Success is measured by commercial lift — not by the number of segments produced.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Elegant Homes UK | Customer Segmentation Sprint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plan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208" y="850392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7085"/>
                </a:solidFill>
              </a:rPr>
              <a:t>A practical 3-month sprint with clear deliverables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1208" y="1161288"/>
            <a:ext cx="1005840" cy="0"/>
          </a:xfrm>
          <a:prstGeom prst="line">
            <a:avLst/>
          </a:prstGeom>
          <a:noFill/>
          <a:ln w="25400">
            <a:solidFill>
              <a:srgbClr val="D8A0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1188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Timing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417320"/>
            <a:ext cx="1508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Focus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417320"/>
            <a:ext cx="3749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Activities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6676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Output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1783080"/>
            <a:ext cx="10698480" cy="0"/>
          </a:xfrm>
          <a:prstGeom prst="line">
            <a:avLst/>
          </a:prstGeom>
          <a:noFill/>
          <a:ln w="254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21408"/>
            <a:ext cx="1188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6F9F"/>
                </a:solidFill>
              </a:rPr>
              <a:t>Month 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31720" y="2121408"/>
            <a:ext cx="1508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040"/>
                </a:solidFill>
              </a:rPr>
              <a:t>Prepare data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06240" y="2121408"/>
            <a:ext cx="3749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040"/>
                </a:solidFill>
              </a:rPr>
              <a:t>Clean transactions, confirm customer identifiers, define RFM fields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8366760" y="2121408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040"/>
                </a:solidFill>
              </a:rPr>
              <a:t>Clean dataset + agreed rules</a:t>
            </a:r>
            <a:endParaRPr lang="en-US" sz="1340" dirty="0"/>
          </a:p>
        </p:txBody>
      </p:sp>
      <p:sp>
        <p:nvSpPr>
          <p:cNvPr id="14" name="Shape 12"/>
          <p:cNvSpPr/>
          <p:nvPr/>
        </p:nvSpPr>
        <p:spPr>
          <a:xfrm>
            <a:off x="621792" y="2779776"/>
            <a:ext cx="106984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182112"/>
            <a:ext cx="1188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A8A8"/>
                </a:solidFill>
              </a:rPr>
              <a:t>Month 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331720" y="3182112"/>
            <a:ext cx="1508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040"/>
                </a:solidFill>
              </a:rPr>
              <a:t>Build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06240" y="3182112"/>
            <a:ext cx="3749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040"/>
                </a:solidFill>
              </a:rPr>
              <a:t>Score customers, classify B2B/B2C/hybrid, create dashboard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8366760" y="3182112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040"/>
                </a:solidFill>
              </a:rPr>
              <a:t>First segmentation dashboard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621792" y="3840480"/>
            <a:ext cx="106984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242816"/>
            <a:ext cx="11887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8A035"/>
                </a:solidFill>
              </a:rPr>
              <a:t>Month 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331720" y="4242816"/>
            <a:ext cx="150876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3040"/>
                </a:solidFill>
              </a:rPr>
              <a:t>Test + embed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06240" y="4242816"/>
            <a:ext cx="37490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040"/>
                </a:solidFill>
              </a:rPr>
              <a:t>Pilot actions, review KPIs, set monthly refresh process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8366760" y="4242816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243040"/>
                </a:solidFill>
              </a:rPr>
              <a:t>Live operating rhythm</a:t>
            </a:r>
            <a:endParaRPr lang="en-US" sz="1340" dirty="0"/>
          </a:p>
        </p:txBody>
      </p:sp>
      <p:sp>
        <p:nvSpPr>
          <p:cNvPr id="24" name="Shape 22"/>
          <p:cNvSpPr/>
          <p:nvPr/>
        </p:nvSpPr>
        <p:spPr>
          <a:xfrm>
            <a:off x="621792" y="4901184"/>
            <a:ext cx="1069848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5577840"/>
            <a:ext cx="92354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24D"/>
                </a:solidFill>
              </a:rPr>
              <a:t>This is designed to be achievable with current data and existing office tools.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5120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Elegant Homes UK | Customer Segmentation Sprint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430000" y="6510528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94A6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1188720"/>
            <a:ext cx="1097280" cy="0"/>
          </a:xfrm>
          <a:prstGeom prst="line">
            <a:avLst/>
          </a:prstGeom>
          <a:noFill/>
          <a:ln w="38100">
            <a:solidFill>
              <a:srgbClr val="D8A0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6583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Decision required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874520"/>
            <a:ext cx="7909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Approve the 3-month segmentation sprint and empower one analytics owner to turn existing transaction data into a live commercial playbook.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85800" y="434340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8F2"/>
                </a:solidFill>
              </a:rPr>
              <a:t>Start simple. Segment fast. Protect margins. Use the insights commercially.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915400" y="1508760"/>
            <a:ext cx="365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A035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915400" y="1828800"/>
            <a:ext cx="365760" cy="0"/>
          </a:xfrm>
          <a:prstGeom prst="line">
            <a:avLst/>
          </a:prstGeom>
          <a:noFill/>
          <a:ln w="25400">
            <a:solidFill>
              <a:srgbClr val="D8A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64040" y="1481328"/>
            <a:ext cx="2240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Use existing transaction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15400" y="2679192"/>
            <a:ext cx="365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A035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915400" y="2999232"/>
            <a:ext cx="365760" cy="0"/>
          </a:xfrm>
          <a:prstGeom prst="line">
            <a:avLst/>
          </a:prstGeom>
          <a:noFill/>
          <a:ln w="25400">
            <a:solidFill>
              <a:srgbClr val="D8A0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64040" y="2651760"/>
            <a:ext cx="2240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Apply RFM first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15400" y="3849624"/>
            <a:ext cx="3657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8A035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915400" y="4169664"/>
            <a:ext cx="365760" cy="0"/>
          </a:xfrm>
          <a:prstGeom prst="line">
            <a:avLst/>
          </a:prstGeom>
          <a:noFill/>
          <a:ln w="25400">
            <a:solidFill>
              <a:srgbClr val="D8A0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64040" y="3822192"/>
            <a:ext cx="224028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Pilot actions by segment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6172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D2E2"/>
                </a:solidFill>
              </a:rPr>
              <a:t>Elegant Homes UK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Turning Raw Customer Data into Profitable Customer Segments</dc:title>
  <dc:subject>Elegant Homes UK customer segmentation presentation</dc:subject>
  <dc:creator>OpenAI</dc:creator>
  <cp:lastModifiedBy>OpenAI</cp:lastModifiedBy>
  <cp:revision>1</cp:revision>
  <dcterms:created xsi:type="dcterms:W3CDTF">2026-08-26T12:06:10Z</dcterms:created>
  <dcterms:modified xsi:type="dcterms:W3CDTF">2026-08-26T12:06:10Z</dcterms:modified>
</cp:coreProperties>
</file>